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457200" y="45720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23015" y="45720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14175" y="45720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8048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23015" y="638048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14175" y="598932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D6AF3D"/>
                </a:solidFill>
                <a:latin typeface="微软雅黑"/>
                <a:ea typeface="微软雅黑"/>
              </a:rPr>
              <a:t>刹那与永恒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514600"/>
            <a:ext cx="4114800" cy="152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5F0E1"/>
                </a:solidFill>
                <a:latin typeface="微软雅黑"/>
                <a:ea typeface="微软雅黑"/>
              </a:rPr>
              <a:t>唐诗中的时间意象与生命意识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B4C0D4"/>
                </a:solidFill>
                <a:latin typeface="微软雅黑"/>
                <a:ea typeface="微软雅黑"/>
              </a:rPr>
              <a:t>——《唐诗三百首》名著研学展示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6A2BA"/>
                </a:solidFill>
                <a:latin typeface="微软雅黑"/>
                <a:ea typeface="微软雅黑"/>
              </a:rPr>
              <a:t>展示人：初三（ ）班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引言 · 问题的提出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引言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D6AF3D"/>
                </a:solidFill>
                <a:latin typeface="微软雅黑"/>
                <a:ea typeface="微软雅黑"/>
              </a:rPr>
              <a:t>时间，是唐诗中反复叩问的母题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600" b="0" i="0">
                <a:solidFill>
                  <a:srgbClr val="F5F0E1"/>
                </a:solidFill>
                <a:latin typeface="微软雅黑"/>
                <a:ea typeface="微软雅黑"/>
              </a:rPr>
              <a:t>“逝者如斯夫，不舍昼夜。”——孔子临川而叹，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600" b="0" i="0">
                <a:solidFill>
                  <a:srgbClr val="F5F0E1"/>
                </a:solidFill>
                <a:latin typeface="微软雅黑"/>
                <a:ea typeface="微软雅黑"/>
              </a:rPr>
              <a:t>自此，流水成为时间最古老的隐喻。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600" b="0" i="0">
                <a:solidFill>
                  <a:srgbClr val="F5F0E1"/>
                </a:solidFill>
                <a:latin typeface="微软雅黑"/>
                <a:ea typeface="微软雅黑"/>
              </a:rPr>
              <a:t>唐人承此传统，又赋予时间更为丰富的形态：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600" b="1" i="0">
                <a:solidFill>
                  <a:srgbClr val="D6AF3D"/>
                </a:solidFill>
                <a:latin typeface="微软雅黑"/>
                <a:ea typeface="微软雅黑"/>
              </a:rPr>
              <a:t>宇宙的浩渺、流水的无情、明镜中悄然改变的容颜……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600" b="0" i="0">
                <a:solidFill>
                  <a:srgbClr val="B4C0D4"/>
                </a:solidFill>
                <a:latin typeface="微软雅黑"/>
                <a:ea typeface="微软雅黑"/>
              </a:rPr>
              <a:t>本次展示将以三类意象为线索，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600" b="0" i="0">
                <a:solidFill>
                  <a:srgbClr val="B4C0D4"/>
                </a:solidFill>
                <a:latin typeface="微软雅黑"/>
                <a:ea typeface="微软雅黑"/>
              </a:rPr>
              <a:t>考察唐人如何感知时间、对抗时间，最终安顿生命。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一 · 时间之问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B4C0D4"/>
                </a:solidFill>
                <a:latin typeface="微软雅黑"/>
                <a:ea typeface="微软雅黑"/>
              </a:rPr>
              <a:t>张若虚《春江花月夜》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4200" b="1" i="0">
                <a:solidFill>
                  <a:srgbClr val="D6AF3D"/>
                </a:solidFill>
                <a:latin typeface="微软雅黑"/>
                <a:ea typeface="微软雅黑"/>
              </a:rPr>
              <a:t>“江畔何人初见月？</a:t>
            </a:r>
          </a:p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4200" b="1" i="0">
                <a:solidFill>
                  <a:srgbClr val="D6AF3D"/>
                </a:solidFill>
                <a:latin typeface="微软雅黑"/>
                <a:ea typeface="微软雅黑"/>
              </a:rPr>
              <a:t>江月何年初照人？”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206240"/>
            <a:ext cx="5943600" cy="152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5F0E1"/>
                </a:solidFill>
                <a:latin typeface="微软雅黑"/>
                <a:ea typeface="微软雅黑"/>
              </a:rPr>
              <a:t>人代代更迭，月年年如旧。一问之间，道尽个体生命与永恒自然之间无法弥合的落差。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二 · 宇宙时间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宇宙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B4C0D4"/>
                </a:solidFill>
                <a:latin typeface="微软雅黑"/>
                <a:ea typeface="微软雅黑"/>
              </a:rPr>
              <a:t>陈子昂《登幽州台歌》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4000" b="1" i="0">
                <a:solidFill>
                  <a:srgbClr val="D6AF3D"/>
                </a:solidFill>
                <a:latin typeface="微软雅黑"/>
                <a:ea typeface="微软雅黑"/>
              </a:rPr>
              <a:t>前不见古人，后不见来者。</a:t>
            </a:r>
          </a:p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4000" b="1" i="0">
                <a:solidFill>
                  <a:srgbClr val="D6AF3D"/>
                </a:solidFill>
                <a:latin typeface="微软雅黑"/>
                <a:ea typeface="微软雅黑"/>
              </a:rPr>
              <a:t>念天地之悠悠，独怆然而涕下。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160520"/>
            <a:ext cx="5943600" cy="152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5F0E1"/>
                </a:solidFill>
                <a:latin typeface="微软雅黑"/>
                <a:ea typeface="微软雅黑"/>
              </a:rPr>
              <a:t>置于无穷时空之中，个体既不见过去，亦不见未来，唯余孤身。寥寥二十二字，将人的孤独推向宇宙的尺度。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二 · 宇宙时间 · 延伸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延伸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以宇宙为参照，人生只是一瞬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天地悠悠，而人生须臾。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正如苏轼所叹：“寄蜉蝣于天地，渺沧海之一粟。”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认识到个体的渺小，并非走向虚无，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800" b="1" i="0">
                <a:solidFill>
                  <a:srgbClr val="D6AF3D"/>
                </a:solidFill>
                <a:latin typeface="微软雅黑"/>
                <a:ea typeface="微软雅黑"/>
              </a:rPr>
              <a:t>而是唐人追问生命意义的第一块基石。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三 · 流水时间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流水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B4C0D4"/>
                </a:solidFill>
                <a:latin typeface="微软雅黑"/>
                <a:ea typeface="微软雅黑"/>
              </a:rPr>
              <a:t>李白《将进酒》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3800" b="1" i="0">
                <a:solidFill>
                  <a:srgbClr val="D6AF3D"/>
                </a:solidFill>
                <a:latin typeface="微软雅黑"/>
                <a:ea typeface="微软雅黑"/>
              </a:rPr>
              <a:t>君不见黄河之水天上来，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3800" b="1" i="0">
                <a:solidFill>
                  <a:srgbClr val="D6AF3D"/>
                </a:solidFill>
                <a:latin typeface="微软雅黑"/>
                <a:ea typeface="微软雅黑"/>
              </a:rPr>
              <a:t>奔流到海不复回。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3800" b="1" i="0">
                <a:solidFill>
                  <a:srgbClr val="D6AF3D"/>
                </a:solidFill>
                <a:latin typeface="微软雅黑"/>
                <a:ea typeface="微软雅黑"/>
              </a:rPr>
              <a:t>君不见高堂明镜悲白发，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3800" b="1" i="0">
                <a:solidFill>
                  <a:srgbClr val="D6AF3D"/>
                </a:solidFill>
                <a:latin typeface="微软雅黑"/>
                <a:ea typeface="微软雅黑"/>
              </a:rPr>
              <a:t>朝如青丝暮成雪。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709160"/>
            <a:ext cx="5943600" cy="152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5F0E1"/>
                </a:solidFill>
                <a:latin typeface="微软雅黑"/>
                <a:ea typeface="微软雅黑"/>
              </a:rPr>
              <a:t>以黄河东去喻时光不可逆，以青丝成雪言生命之速朽。水流不复回，恰如岁月不待人。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三 · 流水时间 · 生命态度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态度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时间不可逆，唐人如何回应？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李白：“人生得意须尽欢，莫使金樽空对月。”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B4C0D4"/>
                </a:solidFill>
                <a:latin typeface="微软雅黑"/>
                <a:ea typeface="微软雅黑"/>
              </a:rPr>
              <a:t>——以旷达与纵情，回击时间的流逝；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王之涣：“欲穷千里目，更上一层楼。”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B4C0D4"/>
                </a:solidFill>
                <a:latin typeface="微软雅黑"/>
                <a:ea typeface="微软雅黑"/>
              </a:rPr>
              <a:t>——以进取与登攀，拓宽有限的人生。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1" i="0">
                <a:solidFill>
                  <a:srgbClr val="D6AF3D"/>
                </a:solidFill>
                <a:latin typeface="微软雅黑"/>
                <a:ea typeface="微软雅黑"/>
              </a:rPr>
              <a:t>惜时，却不被时间压垮：这是唐人共同的生命姿态。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四 · 镜中时间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镜中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B4C0D4"/>
                </a:solidFill>
                <a:latin typeface="微软雅黑"/>
                <a:ea typeface="微软雅黑"/>
              </a:rPr>
              <a:t>贺知章《回乡偶书》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4000" b="1" i="0">
                <a:solidFill>
                  <a:srgbClr val="D6AF3D"/>
                </a:solidFill>
                <a:latin typeface="微软雅黑"/>
                <a:ea typeface="微软雅黑"/>
              </a:rPr>
              <a:t>少小离家老大回，</a:t>
            </a:r>
          </a:p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4000" b="1" i="0">
                <a:solidFill>
                  <a:srgbClr val="D6AF3D"/>
                </a:solidFill>
                <a:latin typeface="微软雅黑"/>
                <a:ea typeface="微软雅黑"/>
              </a:rPr>
              <a:t>乡音无改鬓毛衰。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206240"/>
            <a:ext cx="5943600" cy="152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5F0E1"/>
                </a:solidFill>
                <a:latin typeface="微软雅黑"/>
                <a:ea typeface="微软雅黑"/>
              </a:rPr>
              <a:t>流水之喻在身外，而镜中之叹在己身。乡音未改，鬓毛已衰——时间最终以最直观的方式，写在人的容颜之上。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四 · 镜中时间 · 普遍性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映照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时间的痕迹，其实人人可见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毕业照上，有的名字渐渐生疏；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旧作业本里，歪斜的字迹属于另一个自己；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0" i="0">
                <a:solidFill>
                  <a:srgbClr val="F5F0E1"/>
                </a:solidFill>
                <a:latin typeface="微软雅黑"/>
                <a:ea typeface="微软雅黑"/>
              </a:rPr>
              <a:t>父母的鬓角，也在不经意间添了白发。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1" i="0">
                <a:solidFill>
                  <a:srgbClr val="D6AF3D"/>
                </a:solidFill>
                <a:latin typeface="微软雅黑"/>
                <a:ea typeface="微软雅黑"/>
              </a:rPr>
              <a:t>“镜中时间”提醒我们：时间从不曾停下，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800" b="1" i="0">
                <a:solidFill>
                  <a:srgbClr val="D6AF3D"/>
                </a:solidFill>
                <a:latin typeface="微软雅黑"/>
                <a:ea typeface="微软雅黑"/>
              </a:rPr>
              <a:t>看见它，才懂得珍惜它。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五 · 超越时间 · 三种姿态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超越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面对时间，唐人给出三种答案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2600" b="1" i="0">
                <a:solidFill>
                  <a:srgbClr val="F5F0E1"/>
                </a:solidFill>
                <a:latin typeface="微软雅黑"/>
                <a:ea typeface="微软雅黑"/>
              </a:rPr>
              <a:t>昂扬进取｜王之涣：欲穷千里目，更上一层楼</a:t>
            </a:r>
          </a:p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2600" b="1" i="0">
                <a:solidFill>
                  <a:srgbClr val="F5F0E1"/>
                </a:solidFill>
                <a:latin typeface="微软雅黑"/>
                <a:ea typeface="微软雅黑"/>
              </a:rPr>
              <a:t>感时伤逝｜陈子昂：念天地之悠悠，独怆然而涕下</a:t>
            </a:r>
          </a:p>
          <a:p>
            <a:pPr algn="ctr">
              <a:lnSpc>
                <a:spcPct val="100000"/>
              </a:lnSpc>
              <a:spcAft>
                <a:spcPts val="1800"/>
              </a:spcAft>
            </a:pPr>
            <a:r>
              <a:rPr sz="2600" b="1" i="0">
                <a:solidFill>
                  <a:srgbClr val="F5F0E1"/>
                </a:solidFill>
                <a:latin typeface="微软雅黑"/>
                <a:ea typeface="微软雅黑"/>
              </a:rPr>
              <a:t>超然物外｜王维：明月松间照，清泉石上流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B4C0D4"/>
                </a:solidFill>
                <a:latin typeface="微软雅黑"/>
                <a:ea typeface="微软雅黑"/>
              </a:rPr>
              <a:t>或奋力登高，或直面悲慨，或归于山水——三种姿态，皆是唐人安顿生命的方式。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五 · 超越时间 · 启示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对今天的我们，有何启示？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700" b="0" i="0">
                <a:solidFill>
                  <a:srgbClr val="F5F0E1"/>
                </a:solidFill>
                <a:latin typeface="微软雅黑"/>
                <a:ea typeface="微软雅黑"/>
              </a:rPr>
              <a:t>以进取之心对待学业：每一天都不可重来；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700" b="0" i="0">
                <a:solidFill>
                  <a:srgbClr val="F5F0E1"/>
                </a:solidFill>
                <a:latin typeface="微软雅黑"/>
                <a:ea typeface="微软雅黑"/>
              </a:rPr>
              <a:t>以清醒之心直面压力：焦虑本身也是时间流逝的证明；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700" b="0" i="0">
                <a:solidFill>
                  <a:srgbClr val="F5F0E1"/>
                </a:solidFill>
                <a:latin typeface="微软雅黑"/>
                <a:ea typeface="微软雅黑"/>
              </a:rPr>
              <a:t>以从容之心保留热爱：在书山题海之外，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</a:pPr>
            <a:r>
              <a:rPr sz="2700" b="1" i="0">
                <a:solidFill>
                  <a:srgbClr val="D6AF3D"/>
                </a:solidFill>
                <a:latin typeface="微软雅黑"/>
                <a:ea typeface="微软雅黑"/>
              </a:rPr>
              <a:t>也记得抬头看看月亮。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777240" y="530352"/>
            <a:ext cx="457200" cy="279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"/>
            <a:ext cx="9601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4C0D4"/>
                </a:solidFill>
                <a:latin typeface="微软雅黑"/>
                <a:ea typeface="微软雅黑"/>
              </a:rPr>
              <a:t>结语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5815" y="384048"/>
            <a:ext cx="457200" cy="457200"/>
          </a:xfrm>
          <a:prstGeom prst="rect">
            <a:avLst/>
          </a:prstGeom>
          <a:noFill/>
          <a:ln w="17780">
            <a:solidFill>
              <a:srgbClr val="D6A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 i="0">
                <a:solidFill>
                  <a:srgbClr val="D6AF3D"/>
                </a:solidFill>
                <a:latin typeface="微软雅黑"/>
                <a:ea typeface="微软雅黑"/>
              </a:rPr>
              <a:t>结语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D6AF3D"/>
                </a:solidFill>
                <a:latin typeface="微软雅黑"/>
                <a:ea typeface="微软雅黑"/>
              </a:rPr>
              <a:t>刹那与永恒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240280"/>
            <a:ext cx="4114800" cy="1524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698480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000" b="0" i="0">
                <a:solidFill>
                  <a:srgbClr val="F5F0E1"/>
                </a:solidFill>
                <a:latin typeface="微软雅黑"/>
                <a:ea typeface="微软雅黑"/>
              </a:rPr>
              <a:t>生命不过百年，是刹那；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000" b="0" i="0">
                <a:solidFill>
                  <a:srgbClr val="F5F0E1"/>
                </a:solidFill>
                <a:latin typeface="微软雅黑"/>
                <a:ea typeface="微软雅黑"/>
              </a:rPr>
              <a:t>而认真读过的书、坚持过的事、珍视的情谊，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000" b="0" i="0">
                <a:solidFill>
                  <a:srgbClr val="F5F0E1"/>
                </a:solidFill>
                <a:latin typeface="微软雅黑"/>
                <a:ea typeface="微软雅黑"/>
              </a:rPr>
              <a:t>却可以超越时间，成为永恒。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于刹那之中认真生活，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400" b="1" i="0">
                <a:solidFill>
                  <a:srgbClr val="D6AF3D"/>
                </a:solidFill>
                <a:latin typeface="微软雅黑"/>
                <a:ea typeface="微软雅黑"/>
              </a:rPr>
              <a:t>便是在永恒里留下自己的注脚。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457200" y="45720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23015" y="45720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14175" y="45720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8048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23015" y="6380480"/>
            <a:ext cx="411480" cy="2032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14175" y="5989320"/>
            <a:ext cx="20320" cy="411480"/>
          </a:xfrm>
          <a:prstGeom prst="rect">
            <a:avLst/>
          </a:prstGeom>
          <a:solidFill>
            <a:srgbClr val="D6A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D6AF3D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F5F0E1"/>
                </a:solidFill>
                <a:latin typeface="微软雅黑"/>
                <a:ea typeface="微软雅黑"/>
              </a:rPr>
              <a:t>恳请老师与同学们批评指正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6A2BA"/>
                </a:solidFill>
                <a:latin typeface="微软雅黑"/>
                <a:ea typeface="微软雅黑"/>
              </a:rPr>
              <a:t>参考资料：《唐诗三百首》及历代诗评</a:t>
            </a:r>
          </a:p>
        </p:txBody>
      </p:sp>
      <p:sp>
        <p:nvSpPr>
          <p:cNvPr id="14" name="__marvis_ai_watermark__" title="Marvis AI Watermark" descr="marvis-ai-watermark-v1"/>
          <p:cNvSpPr txBox="1"/>
          <p:nvPr/>
        </p:nvSpPr>
        <p:spPr>
          <a:xfrm>
            <a:off x="7696002" y="6248400"/>
            <a:ext cx="426709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</a:rPr>
              <a:t>（内容由AI生成，仅供参考）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845e939b051952f00f824b9e2820cb6f_af5c9d24ba2811f1b24b525400ea19b7","ReservedCode1":"zsAV3BHZarch0w1fkF8p5ZWkuVsxpFVq24txDsyijoAVwUR4fCFtT8dl5t04S5xqtnMRIGP+6WMav33xUSlqg+8/ZgGRp8iVIg8JCavQIoeeV3p6SHzh/6zlxXXuMnq/2oKClU7lmtG9+ZrP4TYwaWwRQF/3I1qcY+RAODbQ0EEy40K7ppEtvg4wJhs=","ContentPropagator":"001191440300708461136T1XGW3","PropagateID":"845e939b051952f00f824b9e2820cb6f_af5c9d24ba2811f1b24b525400ea19b7","ReservedCode2":"zsAV3BHZarch0w1fkF8p5ZWkuVsxpFVq24txDsyijoAVwUR4fCFtT8dl5t04S5xqtnMRIGP+6WMav33xUSlqg+8/ZgGRp8iVIg8JCavQIoeeV3p6SHzh/6zlxXXuMnq/2oKClU7lmtG9+ZrP4TYwaWwRQF/3I1qcY+RAODbQ0EEy40K7ppEtvg4wJhs="}</vt:lpwstr>
  </property>
</Properties>
</file>