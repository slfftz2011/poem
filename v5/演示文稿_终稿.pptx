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大家好。我们这次研学的题目是——"夕阳无限好"背后：《唐诗三百首》日暮意象的三重时间态度及其当代回响。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王维写黄昏，是塞外浑圆的落日；崔颢写黄昏，是江上弥散的暮霭；李商隐写黄昏，是古原上将逝的余晖。我们通读《唐诗三百首》发现，直接写日暮、斜阳、落日的诗不下十五首。黄昏，似乎是唐代诗人最偏爱的时间场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挑出来之后我们更困惑了：同样是写夕阳，为什么王维写得那么安静，李商隐写得那么难过，杜甫又写得那么重？于是我们锁定了三位诗人，一组一组地读。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王维的黄昏是《鹿柴》。一缕夕阳照进深林，落在青苔上。他不写"夕阳好美"，也不写"可惜要天黑了"。他只是接住了这束光。这种态度我们叫它——安住当下。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李商隐的黄昏是《乐游原》。我们组有人说，这不就是周末晚上吗？你正在玩，忽然想到明天要上学——开心里掺着一点慌。李商隐写下的，就是这种"马上要结束"的感觉。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读到杜甫的时候我们组安静了。《登高》被称为古今七言律第一。他不是一个人在看夕阳，他是带着自己的病、自己的漂泊、整个国家的苦难，站在高台上。这是第三种态度——担当。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总结一下：王维教我们安住——累了就抬头看看窗外；李商隐教我们珍惜——周末、假期、和朋友在一起的时间，认真过；杜甫教我们担当——除了自己的压力，也看看更大的世界。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讨论的时候我们在想，这跟我们有什么关系？后来发现关系大了。我们每天被时间表排满，好久没抬头看过天了。唐朝诗人做的事，其实就是我们最缺的——认真对待停下来的那一刻。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我们这次探究最大的收获，不是背会了几首诗，而是发现：原来在十几岁的年纪，我们也可以学着像王维那样接一束光，像李商隐那样珍惜一个傍晚，像杜甫那样把自己的生活和更大的世界连起来。谢谢大家。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E2A3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882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01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2B48C"/>
                </a:solidFill>
                <a:latin typeface="Noto Sans SC"/>
                <a:ea typeface="Noto Sans SC"/>
                <a:cs typeface="Noto Sans SC"/>
                <a:sym typeface="Noto Sans SC"/>
              </a:rPr>
              <a:t>唐诗三百首 · 小组研学汇报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1016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"夕阳无限好"背后：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《唐诗三百首》日暮意象的</a:t>
            </a:r>
            <a:endParaRPr lang="en-US" sz="3400" b="1" i="0" u="none" strike="noStrike">
              <a:solidFill>
                <a:srgbClr val="F5F0E8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三重时间态度</a:t>
            </a:r>
            <a:endParaRPr lang="en-US" sz="3400" b="1" i="0" u="none" strike="noStrike">
              <a:solidFill>
                <a:srgbClr val="F5F0E8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508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2C8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——及其当代回响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0E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615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汇报人：俞浩煊 · 傅一晨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906000" y="6159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09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引言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70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同一轮落日，照见三种心境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83000"/>
              </a:lnSpc>
              <a:defRPr/>
            </a:pPr>
            <a:r>
              <a:rPr lang="en-US" sz="1700" b="0" i="0" u="none" strike="noStrike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"大漠孤烟直，长河落日圆。"——王维笔下的黄昏，苍茫辽阔。</a:t>
            </a:r>
            <a:endParaRPr lang="en-US" sz="1100"/>
          </a:p>
          <a:p>
            <a:pPr marL="0" indent="0" algn="l">
              <a:lnSpc>
                <a:spcPct val="183000"/>
              </a:lnSpc>
            </a:pPr>
            <a:r>
              <a:rPr lang="en-US" sz="1700" b="0" i="0" u="none" strike="noStrike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"日暮乡关何处是？烟波江上使人愁。"——崔颢笔下的黄昏，迷茫怅惘。</a:t>
            </a:r>
            <a:endParaRPr lang="en-US" sz="1700" b="0" i="0" u="none" strike="noStrike">
              <a:solidFill>
                <a:srgbClr val="3C3C3C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700" b="0" i="0" u="none" strike="noStrike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"夕阳无限好，只是近黄昏。"——李商隐笔下的黄昏，赞美与惋惜同落。</a:t>
            </a:r>
            <a:endParaRPr lang="en-US" sz="1700" b="0" i="0" u="none" strike="noStrike">
              <a:solidFill>
                <a:srgbClr val="3C3C3C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cxnSp>
        <p:nvCxnSpPr>
          <p:cNvPr id="5" name="Connector 5"/>
          <p:cNvCxnSpPr/>
          <p:nvPr/>
        </p:nvCxnSpPr>
        <p:spPr>
          <a:xfrm rot="-85925">
            <a:off x="1016079" y="5581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5778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《唐诗三百首》中写日暮、斜阳、落日的诗，不下十五首。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906000" y="6223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09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270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一个问题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52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同样是夕阳，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52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为什么味道不一样？</a:t>
            </a:r>
            <a:endParaRPr lang="en-US" sz="5200" b="1" i="0" u="none" strike="noStrike">
              <a:solidFill>
                <a:srgbClr val="F5F0E8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481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508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我们挑出了十五首黄昏诗，按诗人分组——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然后发现，有三个人的黄昏，完全不同。</a:t>
            </a:r>
            <a:endParaRPr lang="en-US" sz="1600" b="0" i="0" u="none" strike="noStrike">
              <a:solidFill>
                <a:srgbClr val="B4AAA0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906000" y="6223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09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4993" r="2499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889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第一位 · 王维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光来了，就接住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600" b="1" i="0" u="none" strike="noStrike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返景入深林，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2600" b="1" i="0" u="none" strike="noStrike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复照青苔上。</a:t>
            </a:r>
            <a:endParaRPr lang="en-US" sz="2600" b="1" i="0" u="none" strike="noStrike">
              <a:solidFill>
                <a:srgbClr val="3C3C3C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cxnSp>
        <p:nvCxnSpPr>
          <p:cNvPr id="6" name="Connector 6"/>
          <p:cNvCxnSpPr/>
          <p:nvPr/>
        </p:nvCxnSpPr>
        <p:spPr>
          <a:xfrm rot="-85925">
            <a:off x="762079" y="4692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762000" y="49530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深山里没人，只有一缕夕阳照在青苔上。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他不感叹，不挽留，只是把这个瞬间记下来。</a:t>
            </a:r>
            <a:endParaRPr lang="en-US" sz="1400" b="0" i="0" u="none" strike="noStrike">
              <a:solidFill>
                <a:srgbClr val="505050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6223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/ 09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4993" r="2499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1E2A3A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第二位 · 李商隐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在"近"字里停一下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6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夕阳无限好，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26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只是近黄昏。</a:t>
            </a:r>
            <a:endParaRPr lang="en-US" sz="2600" b="1" i="0" u="none" strike="noStrike">
              <a:solidFill>
                <a:srgbClr val="F5F0E8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cxnSp>
        <p:nvCxnSpPr>
          <p:cNvPr id="7" name="Connector 7"/>
          <p:cNvCxnSpPr/>
          <p:nvPr/>
        </p:nvCxnSpPr>
        <p:spPr>
          <a:xfrm rot="-85925">
            <a:off x="762079" y="4692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762000" y="49530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注意那个"近"字——不是"就是"黄昏，是"快到"黄昏。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最美好的时刻，恰恰因为知道要结束了。</a:t>
            </a:r>
            <a:endParaRPr lang="en-US" sz="1400" b="0" i="0" u="none" strike="noStrike">
              <a:solidFill>
                <a:srgbClr val="C8BEB4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6223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/ 09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4993" r="2499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889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第三位 · 杜甫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把黄昏扛在肩上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08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万里悲秋常作客，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百年多病独登台。</a:t>
            </a:r>
            <a:endParaRPr lang="en-US" sz="2000" b="1" i="0" u="none" strike="noStrike">
              <a:solidFill>
                <a:srgbClr val="3C3C3C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cxnSp>
        <p:nvCxnSpPr>
          <p:cNvPr id="6" name="Connector 6"/>
          <p:cNvCxnSpPr/>
          <p:nvPr/>
        </p:nvCxnSpPr>
        <p:spPr>
          <a:xfrm rot="-85925">
            <a:off x="762079" y="481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762000" y="5080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天地那么大，时间那么长——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他把自己的命运和整个时代，站在了一起。</a:t>
            </a:r>
            <a:endParaRPr lang="en-US" sz="1400" b="0" i="0" u="none" strike="noStrike">
              <a:solidFill>
                <a:srgbClr val="505050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6223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/ 09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三种态度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70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同一个夕阳，三种活法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84373">
            <a:off x="127000" y="3930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956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5384373">
            <a:off x="4699000" y="3930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956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778000" y="2667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王维 · 安住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3429000"/>
            <a:ext cx="381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光来了就看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天黑了就关门</a:t>
            </a:r>
            <a:endParaRPr lang="en-US" sz="1500" b="0" i="0" u="none" strike="noStrike">
              <a:solidFill>
                <a:srgbClr val="C8BEB4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不挽留，不哀叹</a:t>
            </a:r>
            <a:endParaRPr lang="en-US" sz="1500" b="0" i="0" u="none" strike="noStrike">
              <a:solidFill>
                <a:srgbClr val="C8BEB4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2667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李商隐 · 珍惜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3429000"/>
            <a:ext cx="1678683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知道会消失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所以此刻更认真</a:t>
            </a:r>
            <a:endParaRPr lang="en-US" sz="1500" b="0" i="0" u="none" strike="noStrike">
              <a:solidFill>
                <a:srgbClr val="C8BEB4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在"近"字里停一下</a:t>
            </a:r>
            <a:endParaRPr lang="en-US" sz="1500" b="0" i="0" u="none" strike="noStrike">
              <a:solidFill>
                <a:srgbClr val="C8BEB4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890000" y="2667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杜甫 · 担当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0" y="3429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不只看自己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也看更大的世界</a:t>
            </a:r>
            <a:endParaRPr lang="en-US" sz="1500" b="0" i="0" u="none" strike="noStrike">
              <a:solidFill>
                <a:srgbClr val="C8BEB4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把黄昏扛在肩上</a:t>
            </a:r>
            <a:endParaRPr lang="en-US" sz="1500" b="0" i="0" u="none" strike="noStrike">
              <a:solidFill>
                <a:srgbClr val="C8BEB4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906000" y="6223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07 / 09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88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跟我们有什么关系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我们有多久没看过夕阳了？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240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794000"/>
            <a:ext cx="1016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700" b="0" i="0" u="none" strike="noStrike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早上六点起床，白天上课，晚上写作业，周末补课。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700" b="0" i="0" u="none" strike="noStrike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放学路上能看到晚霞，但我们在低头刷手机。</a:t>
            </a:r>
            <a:endParaRPr lang="en-US" sz="1700" b="0" i="0" u="none" strike="noStrike">
              <a:solidFill>
                <a:srgbClr val="3C3C3C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700" b="0" i="0" u="none" strike="noStrike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上一次认真看天，好像还是小学的时候。</a:t>
            </a:r>
            <a:endParaRPr lang="en-US" sz="1700" b="0" i="0" u="none" strike="noStrike">
              <a:solidFill>
                <a:srgbClr val="3C3C3C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——一千年前的人停下来看夕阳，今天的我们也需要。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906000" y="6223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08 / 09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28647">
            <a:off x="1016026" y="100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114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4956A"/>
                </a:solidFill>
                <a:latin typeface="Noto Sans SC"/>
                <a:ea typeface="Noto Sans SC"/>
                <a:cs typeface="Noto Sans SC"/>
                <a:sym typeface="Noto Sans SC"/>
              </a:rPr>
              <a:t>结语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40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夕阳无限好，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4000" b="1" i="0" u="none" strike="noStrike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不是因为它不会消失。</a:t>
            </a:r>
            <a:endParaRPr lang="en-US" sz="4000" b="1" i="0" u="none" strike="noStrike">
              <a:solidFill>
                <a:srgbClr val="F5F0E8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而是因为总有人愿意在它消失之前，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停下来，认真看一眼。</a:t>
            </a:r>
            <a:endParaRPr lang="en-US" sz="1800" b="0" i="0" u="none" strike="noStrike">
              <a:solidFill>
                <a:srgbClr val="B4AAA0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0E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615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谢谢大家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0" y="6159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09 / 09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WPS 演示</Application>
  <PresentationFormat/>
  <Paragraphs>118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ksdb</vt:lpstr>
      <vt:lpstr>Noto Serif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</cp:revision>
  <dcterms:created xsi:type="dcterms:W3CDTF">2026-09-27T06:53:28Z</dcterms:created>
  <dcterms:modified xsi:type="dcterms:W3CDTF">2026-09-27T06:53:28Z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{"Label":"1","ContentProducer":"001191110102MACQD9K64010000","ProduceID":"7690098613226229972","ReservedCode1":"","ContentPropagator":"","PropagateID":"","ReservedCode2":""}</vt:lpwstr>
  </property>
  <property fmtid="{D5CDD505-2E9C-101B-9397-08002B2CF9AE}" pid="3" name="ICV">
    <vt:lpwstr>E572ACA833A74E139797215BA28319F5_12</vt:lpwstr>
  </property>
  <property fmtid="{D5CDD505-2E9C-101B-9397-08002B2CF9AE}" pid="4" name="KSOProductBuildVer">
    <vt:lpwstr>2052-12.1.0.28043</vt:lpwstr>
  </property>
</Properties>
</file>